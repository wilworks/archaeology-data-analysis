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Archeological Technical Report: Fort Amsterdam NAA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Elemental Analysis of Ceramic Specimens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Context: ~500 Years Post-Deposition (17th Century Colonial)</a:t>
            </a:r>
          </a:p>
          <a:p>
            <a:pPr/>
            <a:r>
              <a:t>Findings:</a:t>
            </a:r>
          </a:p>
          <a:p>
            <a:pPr lvl="1"/>
            <a:r>
              <a:t>Specimens are confirmed Ceramic Pottery, not biological remains.</a:t>
            </a:r>
          </a:p>
          <a:p>
            <a:pPr lvl="1"/>
            <a:r>
              <a:t>High Al, Fe, K signatures indicate terrestrial clay matrix.</a:t>
            </a:r>
          </a:p>
          <a:p>
            <a:pPr lvl="1"/>
            <a:r>
              <a:t>High Ca levels consistent with shell tempering and coastal burial.</a:t>
            </a:r>
          </a:p>
          <a:p>
            <a:pPr lvl="1"/>
            <a:r>
              <a:t>Sodium (Na) infusion confirms long-term proximity to sea salt.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Neutron Activation Analysis (NAA):</a:t>
            </a:r>
          </a:p>
          <a:p>
            <a:pPr lvl="1"/>
            <a:r>
              <a:t>Non-destructive technique measuring elemental composition via neutron bombardment.</a:t>
            </a:r>
          </a:p>
          <a:p>
            <a:pPr lvl="1"/>
            <a:r>
              <a:t>Provides precise quantification of trace elements (ppm-level accuracy).</a:t>
            </a:r>
          </a:p>
          <a:p/>
          <a:p>
            <a:pPr/>
            <a:r>
              <a:t>Computational Analysis Workflow:</a:t>
            </a:r>
          </a:p>
          <a:p>
            <a:pPr lvl="1"/>
            <a:r>
              <a:t>Data extraction: Parsed NAA intensity values from Excel, removing uncertainty ranges (±).</a:t>
            </a:r>
          </a:p>
          <a:p>
            <a:pPr lvl="1"/>
            <a:r>
              <a:t>Visualization: Generated comparative histograms using Python (matplotlib/seaborn).</a:t>
            </a:r>
          </a:p>
          <a:p>
            <a:pPr lvl="1"/>
            <a:r>
              <a:t>Statistical correlation: Calculated Pearson correlation coefficients between sample elemental profiles to identify geochemical consistency.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Context &amp; Speculation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Original Speculation (Slice Analysis):</a:t>
            </a:r>
          </a:p>
          <a:p>
            <a:pPr lvl="1"/>
            <a:r>
              <a:t>High Al, Ca, K, and Na were initially attributed to human remains (bones, coffins, grave goods).</a:t>
            </a:r>
          </a:p>
          <a:p>
            <a:pPr lvl="1"/>
            <a:r>
              <a:t>Heavy metals (Ti, Fe) suggested agricultural/industrial contamination.</a:t>
            </a:r>
          </a:p>
          <a:p/>
          <a:p>
            <a:pPr/>
            <a:r>
              <a:t>NAA Revelation:</a:t>
            </a:r>
          </a:p>
          <a:p>
            <a:pPr lvl="1"/>
            <a:r>
              <a:t>3D rendering confirmed pottery shapes, not biological material.</a:t>
            </a:r>
          </a:p>
          <a:p>
            <a:pPr lvl="1"/>
            <a:r>
              <a:t>Chemical profile matches coastal ceramic production, not burial remains.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Chemical Profile: Element Intensities</a:t>
            </a:r>
          </a:p>
        </p:txBody>
      </p:sp>
      <p:pic>
        <p:nvPicPr>
          <p:cNvPr id="4" name="Picture 3" descr="element_intensities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80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Consistent Al/Fe/K/Ca profile across samples indicates shared provenance.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Intensity Data (NAA Results)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046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280160"/>
                <a:gridCol w="1280160"/>
                <a:gridCol w="128016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Sample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Sample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Sample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Sample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Sample 5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109900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87850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102700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94810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46090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33380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4411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3511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1432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15910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14390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Geochemical Correlation Matrix</a:t>
            </a:r>
          </a:p>
        </p:txBody>
      </p:sp>
      <p:pic>
        <p:nvPicPr>
          <p:cNvPr id="4" name="Picture 3" descr="inter_sampl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1435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>
                <a:solidFill>
                  <a:srgbClr val="FF0000"/>
                </a:solidFill>
              </a:defRPr>
            </a:pPr>
            <a:r>
              <a:t>Sample 2 is a significant outlier (Correlation 0.22 - 0.45).</a:t>
            </a:r>
          </a:p>
          <a:p>
            <a:r>
              <a:t>This suggests it originates from a different vessel, workshop, or has undergone isolated contamination compared to the main group (1, 3, 4, 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Archaeological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</a:pPr>
            <a:r>
              <a:t>Interpretation: The artifacts are a single set of colonial-era utility ware (Main Group), with one anomalous piece (Sample 2).</a:t>
            </a:r>
          </a:p>
          <a:p>
            <a:pPr>
              <a:spcAft>
                <a:spcPts val="1200"/>
              </a:spcAft>
            </a:pPr>
            <a:r>
              <a:t>Coastal Context: Validated by ubiquitous Sodium presence.</a:t>
            </a:r>
          </a:p>
          <a:p>
            <a:pPr>
              <a:spcAft>
                <a:spcPts val="1200"/>
              </a:spcAft>
            </a:pPr>
            <a:r>
              <a:t>Material: Local or imported volcanic-clay pottery (High Fe/Al) with shell temper (Ca).</a:t>
            </a:r>
          </a:p>
          <a:p>
            <a:pPr>
              <a:spcAft>
                <a:spcPts val="1200"/>
              </a:spcAft>
            </a:pPr>
            <a:r>
              <a:t>Historical Significance: Reflects Fort Amsterdam's role as a 17th-century hub with diverse pottery sources (local production + imports).</a:t>
            </a:r>
          </a:p>
          <a:p>
            <a:pPr>
              <a:spcAft>
                <a:spcPts val="1200"/>
              </a:spcAft>
            </a:pPr>
            <a:r>
              <a:t>Result: Speculations of human remains are chemically refuted.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